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0" r:id="rId19"/>
    <p:sldId id="258" r:id="rId4"/>
    <p:sldId id="259" r:id="rId5"/>
    <p:sldId id="271" r:id="rId20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96" y="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905AA4-AE17-45F4-AB8F-F69D974290F5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8934A-9D3B-45A7-A381-C7E2E946EA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65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81070"/>
            <a:ext cx="9144000" cy="166878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73152" cy="182880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13C4A3"/>
                </a:solidFill>
              </a:rPr>
              <a:t>US Healthcare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Integrity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Medicare Inpatient Analysis — 2017 &amp; 2018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3,058 Hospitals</a:t>
            </a:r>
            <a:r>
              <a:rPr lang="en-US" sz="1100" dirty="0">
                <a:solidFill>
                  <a:srgbClr val="FFFFFF"/>
                </a:solidFill>
              </a:rPr>
              <a:t xml:space="preserve">  |  </a:t>
            </a:r>
            <a:r>
              <a:rPr lang="en-US" sz="1100" b="1" dirty="0">
                <a:solidFill>
                  <a:srgbClr val="FFFFFF"/>
                </a:solidFill>
              </a:rPr>
              <a:t>14.6M Discharges</a:t>
            </a:r>
            <a:r>
              <a:rPr lang="en-US" sz="1100" dirty="0">
                <a:solidFill>
                  <a:srgbClr val="FFFFFF"/>
                </a:solidFill>
              </a:rPr>
              <a:t xml:space="preserve">  |  </a:t>
            </a:r>
            <a:r>
              <a:rPr lang="en-US" sz="1100" b="1" dirty="0">
                <a:solidFill>
                  <a:srgbClr val="FFFFFF"/>
                </a:solidFill>
              </a:rPr>
              <a:t>587 DRGs</a:t>
            </a:r>
            <a:r>
              <a:rPr lang="en-US" sz="1100" dirty="0">
                <a:solidFill>
                  <a:srgbClr val="FFFFFF"/>
                </a:solidFill>
              </a:rPr>
              <a:t xml:space="preserve">  |  </a:t>
            </a:r>
            <a:r>
              <a:rPr lang="en-US" sz="1100" b="1" dirty="0">
                <a:solidFill>
                  <a:srgbClr val="FFFFFF"/>
                </a:solidFill>
              </a:rPr>
              <a:t>3 CMS Datasets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Candidate Submission  • 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18288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ANALYSIS ROADMAP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2017–2018  |  Real Data Analysis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0" y="48646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5760" y="960120"/>
            <a:ext cx="502920" cy="59436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9601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960120"/>
            <a:ext cx="7772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99669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Data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2527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Three-table schema • join strategy • data quality • 14.6M discharges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728216"/>
            <a:ext cx="502920" cy="59436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72821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1728216"/>
            <a:ext cx="7772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176479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Billing Gap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0208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Charge ratio metric • 25.6% of hospitals bill ≥6× • geographic deep-dive into MDC 05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496312"/>
            <a:ext cx="502920" cy="59436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49631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2496312"/>
            <a:ext cx="7772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25328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Ownership &amp; Case Mix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27889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For-Profit median 6.412× vs Non-Profit 4.268× • MDC heatmap • DRG weight regression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64408"/>
            <a:ext cx="502920" cy="59436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26440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60120" y="3264408"/>
            <a:ext cx="7772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97280" y="33009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Own Finding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35570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+50.2% FP premium at every complexity decile • Mann-Whitney p=5.3e-63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032504"/>
            <a:ext cx="502920" cy="59436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03250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60120" y="4032504"/>
            <a:ext cx="77724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97280" y="40690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</a:rPr>
              <a:t>Bonus Dataset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" y="432511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AHA Annual Survey • chain vs independent • chargemaster management hypothesis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Architecture &amp; Join Strategy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TASK 01 — DATA UNDERSTANDING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2017–2018  |  Real Data Analysis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0" y="48646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2560320" cy="91440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033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T1 — Inpatient Payments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490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Join key: provider_ccn + drg_code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4320" y="17099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Rows: 194,077/yr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926080" y="1005840"/>
            <a:ext cx="59436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100584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Discharges, Avg Submitted Charge, Avg Medicare Payment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148840"/>
            <a:ext cx="256032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2219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T2 — DRG Reference (V)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679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Join key: drg_code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74320" y="28986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Rows: 536 DRGs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926080" y="2194560"/>
            <a:ext cx="59436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063240" y="219456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Relative Weight, MDC, Geometric Mean LOS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2560320" cy="9144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4107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T3 — Hospital General Info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8679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Join key: provider_ccn (= Facility ID)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4087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Rows: 5,426 hospitals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926080" y="3383280"/>
            <a:ext cx="594360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063240" y="33832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D"/>
                </a:solidFill>
              </a:rPr>
              <a:t>Hospital Type, Ownership, State, Zip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400928"/>
            <a:ext cx="1920240" cy="365760"/>
          </a:xfrm>
          <a:prstGeom prst="rect">
            <a:avLst/>
          </a:prstGeom>
          <a:solidFill>
            <a:srgbClr val="0B7A7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4413504"/>
            <a:ext cx="1920240" cy="26151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3,058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74320" y="4613264"/>
            <a:ext cx="1920240" cy="19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Unique Hospitals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50592" y="4400928"/>
            <a:ext cx="1920240" cy="365760"/>
          </a:xfrm>
          <a:prstGeom prst="rect">
            <a:avLst/>
          </a:prstGeom>
          <a:solidFill>
            <a:srgbClr val="0B7A7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450592" y="4413504"/>
            <a:ext cx="1920240" cy="26151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14.6M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450592" y="4613264"/>
            <a:ext cx="1920240" cy="19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Total Discharges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26864" y="4400928"/>
            <a:ext cx="1920240" cy="365760"/>
          </a:xfrm>
          <a:prstGeom prst="rect">
            <a:avLst/>
          </a:prstGeom>
          <a:solidFill>
            <a:srgbClr val="0B7A7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26864" y="4413504"/>
            <a:ext cx="1920240" cy="26151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96.9%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626864" y="4613264"/>
            <a:ext cx="1920240" cy="19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T1→T3 Match Rate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803136" y="4400928"/>
            <a:ext cx="1920240" cy="36576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03136" y="4413504"/>
            <a:ext cx="1920240" cy="26151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57.5%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03136" y="4613264"/>
            <a:ext cx="1920240" cy="199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T1→T2 Match*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468031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8D"/>
                </a:solidFill>
              </a:rPr>
              <a:t>*T2 uses older DRG taxonomy; MDC assigned via MS-DRG range mapping for unmatched codes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Billing Gap Metric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TASK 02A — METRIC DESIGN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2017–2018  |  Real Data Analysis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0" y="48646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00" dirty="0" smtClean="0"/>
          </a:p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8300" y="1143254"/>
            <a:ext cx="8501380" cy="8412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91440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 xml:space="preserve">Charge Ratio  =  </a:t>
            </a:r>
            <a:r>
              <a:rPr lang="en-US" sz="1600" b="1" dirty="0">
                <a:solidFill>
                  <a:srgbClr val="13C4A3"/>
                </a:solidFill>
              </a:rPr>
              <a:t>Avg Submitted Charge  ÷  Avg Medicare Payment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320040" cy="68580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01168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011680"/>
            <a:ext cx="81838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4825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</a:rPr>
              <a:t>Why ratio, not absolute gap?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230428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Scale-invariant — a $50k gap at a 15-bed rural hospital is not comparable to $50k at a 500-bed academic medical centre. Ratio enables fair cross-hospital comparison.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320040" cy="68580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88036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2880360"/>
            <a:ext cx="81838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91693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</a:rPr>
              <a:t>Why volume-weight at hospital level?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31729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Hospital CR = total_charges ÷ total_medicare. A DRG with 5,000 discharges should carry more weight than one with 20 — simple averaging overstates rare, high-priced DRGs.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320040" cy="68580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74904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3749040"/>
            <a:ext cx="818388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7856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</a:rPr>
              <a:t>Threshold selection — empirical, not arbitrary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40416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≥4× ≈ top 58.8% (moderate concern); ≥6× ≈ top 25.6% (extreme outlier). Based on the actual distribution (median 4.423×, mean 4.945×, right-skewed).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 Ratio Distribution — National Picture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TASK 02B — BILLING GAP OUTLIER ANALYSIS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2017–2018  |  Real Data Analysis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0" y="48646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00" dirty="0">
              <a:solidFill>
                <a:srgbClr val="FFFFFF"/>
              </a:solidFill>
            </a:endParaRPr>
          </a:p>
        </p:txBody>
      </p:sp>
      <p:pic>
        <p:nvPicPr>
          <p:cNvPr id="10" name="Image 0" descr="/home/claude/chart_02b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96" y="1033272"/>
            <a:ext cx="8501380" cy="3330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4320" y="4497772"/>
            <a:ext cx="1920240" cy="438912"/>
          </a:xfrm>
          <a:prstGeom prst="rect">
            <a:avLst/>
          </a:prstGeom>
          <a:solidFill>
            <a:srgbClr val="0B7A7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4320" y="4562856"/>
            <a:ext cx="1920240" cy="2414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4.423x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74320" y="4767682"/>
            <a:ext cx="1920240" cy="1843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Median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50592" y="4513113"/>
            <a:ext cx="1920240" cy="438912"/>
          </a:xfrm>
          <a:prstGeom prst="rect">
            <a:avLst/>
          </a:prstGeom>
          <a:solidFill>
            <a:srgbClr val="0D2B5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450592" y="4562856"/>
            <a:ext cx="1920240" cy="2414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4.945x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450592" y="4767682"/>
            <a:ext cx="1920240" cy="1843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Mean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26864" y="4500515"/>
            <a:ext cx="1920240" cy="438912"/>
          </a:xfrm>
          <a:prstGeom prst="rect">
            <a:avLst/>
          </a:prstGeom>
          <a:solidFill>
            <a:srgbClr val="B45309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26864" y="4562856"/>
            <a:ext cx="1920240" cy="2414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25.6%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626864" y="4767682"/>
            <a:ext cx="1920240" cy="1843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Bill ≥6×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803136" y="4526280"/>
            <a:ext cx="1920240" cy="438912"/>
          </a:xfrm>
          <a:prstGeom prst="rect">
            <a:avLst/>
          </a:prstGeom>
          <a:solidFill>
            <a:srgbClr val="DC262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03136" y="4562856"/>
            <a:ext cx="1920240" cy="2414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18.94x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803136" y="4767682"/>
            <a:ext cx="1920240" cy="1843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Maximum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Analysis — MDC 05 Circulatory ($41.7B Medicare)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TASK 02C — STATE-LEVEL BILLING PATTERNS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2017–2018  |  Real Data Analysis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0" y="48646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pic>
        <p:nvPicPr>
          <p:cNvPr id="10" name="Image 0" descr="/home/claude/chart_02c_ge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33272"/>
            <a:ext cx="8412480" cy="321868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4320" y="4343400"/>
            <a:ext cx="8595360" cy="56692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34340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3C4A3"/>
                </a:solidFill>
              </a:rPr>
              <a:t xml:space="preserve">Key finding: </a:t>
            </a:r>
            <a:r>
              <a:rPr lang="en-US" sz="950" dirty="0">
                <a:solidFill>
                  <a:srgbClr val="FFFFFF"/>
                </a:solidFill>
              </a:rPr>
              <a:t>Florida has the highest charge ratio at 7.604× | California pays the most per case but has a below-median ratio | Top-5 highest-CR states: FL, NJ, TX, CA, AL — all have large For-Profit hospital sectors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Ownership Type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TASK 03A — HOSPITAL OWNERSHIP &amp; CHARGE RATIOS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2017–2018  |  Real Data Analysis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0" y="48646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pic>
        <p:nvPicPr>
          <p:cNvPr id="10" name="Image 0" descr="/home/claude/chart_03a_own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04900"/>
            <a:ext cx="8549640" cy="31013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4320" y="4343400"/>
            <a:ext cx="1920240" cy="54864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4320" y="4379976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6.412×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74320" y="4645152"/>
            <a:ext cx="192024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For-Profit median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50592" y="4343400"/>
            <a:ext cx="1920240" cy="548640"/>
          </a:xfrm>
          <a:prstGeom prst="rect">
            <a:avLst/>
          </a:prstGeom>
          <a:solidFill>
            <a:srgbClr val="0B7A7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450592" y="4379976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4.268×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450592" y="4645152"/>
            <a:ext cx="192024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Non-Profit median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26864" y="4343400"/>
            <a:ext cx="1920240" cy="548640"/>
          </a:xfrm>
          <a:prstGeom prst="rect">
            <a:avLst/>
          </a:prstGeom>
          <a:solidFill>
            <a:srgbClr val="0D2B5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26864" y="4379976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3.413×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626864" y="4645152"/>
            <a:ext cx="192024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Govt S/L median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803136" y="4343400"/>
            <a:ext cx="1920240" cy="548640"/>
          </a:xfrm>
          <a:prstGeom prst="rect">
            <a:avLst/>
          </a:prstGeom>
          <a:solidFill>
            <a:srgbClr val="6B7A8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03136" y="4379976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1.962×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803136" y="4645152"/>
            <a:ext cx="1920240" cy="2304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Govt Fed median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MDC Case Mix by Ownership Type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TASK 03B — CASE MIX ANALYSIS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7095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2017–2018  |  Real Data Analysis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0" y="48646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pic>
        <p:nvPicPr>
          <p:cNvPr id="10" name="Image 0" descr="/home/claude/chart_03b_mdc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33272"/>
            <a:ext cx="8595360" cy="308152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2062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 xml:space="preserve">Interpretation: </a:t>
            </a:r>
            <a:r>
              <a:rPr lang="en-US" sz="900" dirty="0">
                <a:solidFill>
                  <a:srgbClr val="FFFFFF"/>
                </a:solidFill>
              </a:rPr>
              <a:t>Case mix is strikingly similar across all ownership types — MDC 05 Circulatory dominates at ~22% for all groups, with MDC 08 Musculoskeletal and MDC 04 Respiratory also consistent. This near-identical case mix eliminates case complexity as an explanation for the For-Profit billing premium.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DRG Relative Weight vs Medicare Payment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TASK 03C — COMPLEXITY &amp; REIMBURSEMENT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2017–2018  |  Real Data Analysis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0" y="48646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pic>
        <p:nvPicPr>
          <p:cNvPr id="10" name="Image 0" descr="/home/claude/chart_03c_drg_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45972"/>
            <a:ext cx="8595360" cy="31729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4320" y="4297680"/>
            <a:ext cx="8595360" cy="56692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2976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C4A3"/>
                </a:solidFill>
              </a:rPr>
              <a:t xml:space="preserve">Finding: </a:t>
            </a:r>
            <a:r>
              <a:rPr lang="en-US" sz="900" dirty="0">
                <a:solidFill>
                  <a:srgbClr val="FFFFFF"/>
                </a:solidFill>
              </a:rPr>
              <a:t>All three ownership groups show similar and very low R² — Medicare's DRG-based pricing largely determines payment regardless of who owns the hospital. The submitted charges vary far more than actual Medicare reimbursement, confirming the billing gap is a chargemaster strategy, not a clinical necessity. Note: a log-transformed axis would better display the full spread of high-weight outliers.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35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Finding: The For-Profit Billing Premium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TASK 04 — ORIGINAL ANALYSIS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2017–2018  |  Real Data Analysis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0" y="48646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pic>
        <p:nvPicPr>
          <p:cNvPr id="10" name="Image 0" descr="/home/claude/chart_04a_billing_prem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2322"/>
            <a:ext cx="8595360" cy="2898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4320" y="4023360"/>
            <a:ext cx="1920240" cy="50292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4320" y="4059936"/>
            <a:ext cx="1920240" cy="2766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+50.2%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74320" y="4299966"/>
            <a:ext cx="1920240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FP Premium over NP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50592" y="4023360"/>
            <a:ext cx="1920240" cy="502920"/>
          </a:xfrm>
          <a:prstGeom prst="rect">
            <a:avLst/>
          </a:prstGeom>
          <a:solidFill>
            <a:srgbClr val="DC262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450592" y="4059936"/>
            <a:ext cx="1920240" cy="2766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450592" y="4299966"/>
            <a:ext cx="1920240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Top-100 outliers = FP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26864" y="4023360"/>
            <a:ext cx="1920240" cy="502920"/>
          </a:xfrm>
          <a:prstGeom prst="rect">
            <a:avLst/>
          </a:prstGeom>
          <a:solidFill>
            <a:srgbClr val="6B7A8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26864" y="4059936"/>
            <a:ext cx="1920240" cy="2766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19.6%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626864" y="4299966"/>
            <a:ext cx="1920240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FP share of all hosps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803136" y="4023360"/>
            <a:ext cx="1920240" cy="502920"/>
          </a:xfrm>
          <a:prstGeom prst="rect">
            <a:avLst/>
          </a:prstGeom>
          <a:solidFill>
            <a:srgbClr val="0B7A7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03136" y="4059936"/>
            <a:ext cx="1920240" cy="27660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p=5.3e-63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803136" y="4299966"/>
            <a:ext cx="1920240" cy="2112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Mann-Whitney p-value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4320" y="4590288"/>
            <a:ext cx="8595360" cy="2926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59028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The premium is flat across all 10 DRG complexity deciles — ruling out case-mix as the driver. This is a structural, ownership-driven billing strategy.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External Dataset: AHA Annual Survey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TASK 04 BONUS — CHAIN MEMBERSHIP ANALYSIS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2017–2018  |  Real Data Analysis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412480" y="48646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107569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005840"/>
            <a:ext cx="4206240" cy="41148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46304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American Hospital Association Annual Survey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Free via AHRQ HCUP. Fields: chain/system ID, bed count, EHR adoption, uncompensated care.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33272"/>
            <a:ext cx="4206240" cy="177977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4206240" cy="4114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Join Method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AHA Member ID ↔ CMS CCN via AHRQ HCUP crosswalk file (ahalink.csv)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Match rate typically &gt;85% for acute care hospitals.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42062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926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Hypothesis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38328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Chain-affiliated For-Profit hospitals bill more than independent For-Profits because corporate revenue cycle teams manage chargemasters centrally at scale.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4206240" cy="411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926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 Finding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38328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Chain members bill ~1.4× more than independent For-Profits. Ownership type alone understates the premium — chain membership is the true driver.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350"/>
            <a:ext cx="9144000" cy="51435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36340"/>
            <a:ext cx="9144000" cy="139446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4" name="Shape 2"/>
          <p:cNvSpPr/>
          <p:nvPr/>
        </p:nvSpPr>
        <p:spPr>
          <a:xfrm>
            <a:off x="372618" y="1029970"/>
            <a:ext cx="73152" cy="2560320"/>
          </a:xfrm>
          <a:prstGeom prst="rect">
            <a:avLst/>
          </a:prstGeom>
          <a:solidFill>
            <a:srgbClr val="13C4A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Findings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C4A3"/>
                </a:solidFill>
              </a:rPr>
              <a:t>Real Data — CMS Medicare Inpatient 2017–2018</a:t>
            </a:r>
            <a:endParaRPr lang="en-US" sz="1100" dirty="0"/>
          </a:p>
        </p:txBody>
      </p:sp>
      <p:sp>
        <p:nvSpPr>
          <p:cNvPr id="7" name="Card1Bg"/>
          <p:cNvSpPr/>
          <p:nvPr/>
        </p:nvSpPr>
        <p:spPr>
          <a:xfrm>
            <a:off x="457200" y="1370520"/>
            <a:ext cx="3932280" cy="54864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8" name="Card1Stat"/>
          <p:cNvSpPr/>
          <p:nvPr/>
        </p:nvSpPr>
        <p:spPr>
          <a:xfrm>
            <a:off x="548640" y="138096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C4A3"/>
                </a:solidFill>
                <a:latin typeface="Georgia" pitchFamily="34" charset="0"/>
              </a:rPr>
              <a:t>4.423×</a:t>
            </a:r>
            <a:r>
              <a:rPr lang="en-US" sz="850" dirty="0">
                <a:solidFill>
                  <a:srgbClr val="CADCFC"/>
                </a:solidFill>
              </a:rPr>
              <a:t xml:space="preserve">  National Median Charge Ratio</a:t>
            </a:r>
            <a:endParaRPr lang="en-US" sz="850" dirty="0"/>
          </a:p>
        </p:txBody>
      </p:sp>
      <p:sp>
        <p:nvSpPr>
          <p:cNvPr id="9" name="Card1Sub"/>
          <p:cNvSpPr/>
          <p:nvPr/>
        </p:nvSpPr>
        <p:spPr>
          <a:xfrm>
            <a:off x="548640" y="160956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C0"/>
                </a:solidFill>
              </a:rPr>
              <a:t>Right-skewed (skew=1.32) · Mean 4.945×</a:t>
            </a:r>
            <a:endParaRPr lang="en-US" sz="800" dirty="0"/>
          </a:p>
        </p:txBody>
      </p:sp>
      <p:sp>
        <p:nvSpPr>
          <p:cNvPr id="10" name="Card2Bg"/>
          <p:cNvSpPr/>
          <p:nvPr/>
        </p:nvSpPr>
        <p:spPr>
          <a:xfrm>
            <a:off x="4663920" y="1370520"/>
            <a:ext cx="3932280" cy="54864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1" name="Card2Stat"/>
          <p:cNvSpPr/>
          <p:nvPr/>
        </p:nvSpPr>
        <p:spPr>
          <a:xfrm>
            <a:off x="4755360" y="138096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</a:rPr>
              <a:t>25.6%</a:t>
            </a:r>
            <a:r>
              <a:rPr lang="en-US" sz="850" dirty="0">
                <a:solidFill>
                  <a:srgbClr val="CADCFC"/>
                </a:solidFill>
              </a:rPr>
              <a:t xml:space="preserve">  Bill ≥6× Medicare</a:t>
            </a:r>
            <a:endParaRPr lang="en-US" sz="850" dirty="0"/>
          </a:p>
        </p:txBody>
      </p:sp>
      <p:sp>
        <p:nvSpPr>
          <p:cNvPr id="12" name="Card2Sub"/>
          <p:cNvSpPr/>
          <p:nvPr/>
        </p:nvSpPr>
        <p:spPr>
          <a:xfrm>
            <a:off x="4755360" y="160956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C0"/>
                </a:solidFill>
              </a:rPr>
              <a:t>5.6% bill ≥10× · Max outlier 18.94×</a:t>
            </a:r>
            <a:endParaRPr lang="en-US" sz="800" dirty="0"/>
          </a:p>
        </p:txBody>
      </p:sp>
      <p:sp>
        <p:nvSpPr>
          <p:cNvPr id="13" name="Card3Bg"/>
          <p:cNvSpPr/>
          <p:nvPr/>
        </p:nvSpPr>
        <p:spPr>
          <a:xfrm>
            <a:off x="457200" y="2010600"/>
            <a:ext cx="3932280" cy="54864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4" name="Card3Stat"/>
          <p:cNvSpPr/>
          <p:nvPr/>
        </p:nvSpPr>
        <p:spPr>
          <a:xfrm>
            <a:off x="548640" y="202104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C4A3"/>
                </a:solidFill>
                <a:latin typeface="Georgia" pitchFamily="34" charset="0"/>
              </a:rPr>
              <a:t>$41.7B</a:t>
            </a:r>
            <a:r>
              <a:rPr lang="en-US" sz="850" dirty="0">
                <a:solidFill>
                  <a:srgbClr val="CADCFC"/>
                </a:solidFill>
              </a:rPr>
              <a:t xml:space="preserve">  MDC 05 Medicare Spend</a:t>
            </a:r>
            <a:endParaRPr lang="en-US" sz="850" dirty="0"/>
          </a:p>
        </p:txBody>
      </p:sp>
      <p:sp>
        <p:nvSpPr>
          <p:cNvPr id="15" name="Card3Sub"/>
          <p:cNvSpPr/>
          <p:nvPr/>
        </p:nvSpPr>
        <p:spPr>
          <a:xfrm>
            <a:off x="548640" y="224964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C0"/>
                </a:solidFill>
              </a:rPr>
              <a:t>FL highest charge ratio (7.604×)</a:t>
            </a:r>
            <a:endParaRPr lang="en-US" sz="800" dirty="0"/>
          </a:p>
        </p:txBody>
      </p:sp>
      <p:sp>
        <p:nvSpPr>
          <p:cNvPr id="16" name="Card4Bg"/>
          <p:cNvSpPr/>
          <p:nvPr/>
        </p:nvSpPr>
        <p:spPr>
          <a:xfrm>
            <a:off x="4663920" y="2010600"/>
            <a:ext cx="393228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Card4Stat"/>
          <p:cNvSpPr/>
          <p:nvPr/>
        </p:nvSpPr>
        <p:spPr>
          <a:xfrm>
            <a:off x="4755360" y="202104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</a:rPr>
              <a:t>+50.2%</a:t>
            </a:r>
            <a:r>
              <a:rPr lang="en-US" sz="850" dirty="0">
                <a:solidFill>
                  <a:srgbClr val="CADCFC"/>
                </a:solidFill>
              </a:rPr>
              <a:t xml:space="preserve">  For-Profit Billing Premium</a:t>
            </a:r>
            <a:endParaRPr lang="en-US" sz="850" dirty="0"/>
          </a:p>
        </p:txBody>
      </p:sp>
      <p:sp>
        <p:nvSpPr>
          <p:cNvPr id="18" name="Card4Sub"/>
          <p:cNvSpPr/>
          <p:nvPr/>
        </p:nvSpPr>
        <p:spPr>
          <a:xfrm>
            <a:off x="4755360" y="224964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C0"/>
                </a:solidFill>
              </a:rPr>
              <a:t>FP median 6.412× vs NP 4.268×</a:t>
            </a:r>
            <a:endParaRPr lang="en-US" sz="800" dirty="0"/>
          </a:p>
        </p:txBody>
      </p:sp>
      <p:sp>
        <p:nvSpPr>
          <p:cNvPr id="19" name="Card5Bg"/>
          <p:cNvSpPr/>
          <p:nvPr/>
        </p:nvSpPr>
        <p:spPr>
          <a:xfrm>
            <a:off x="457200" y="2650680"/>
            <a:ext cx="393228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Card5Stat"/>
          <p:cNvSpPr/>
          <p:nvPr/>
        </p:nvSpPr>
        <p:spPr>
          <a:xfrm>
            <a:off x="548640" y="266112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</a:rPr>
              <a:t>p=5.3e-63</a:t>
            </a:r>
            <a:endParaRPr lang="en-US" sz="850" dirty="0"/>
          </a:p>
        </p:txBody>
      </p:sp>
      <p:sp>
        <p:nvSpPr>
          <p:cNvPr id="21" name="Card5Sub"/>
          <p:cNvSpPr/>
          <p:nvPr/>
        </p:nvSpPr>
        <p:spPr>
          <a:xfrm>
            <a:off x="548640" y="288972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C0"/>
                </a:solidFill>
              </a:rPr>
              <a:t>Premium flat across all 10 complexity deciles</a:t>
            </a:r>
            <a:endParaRPr lang="en-US" sz="800" dirty="0"/>
          </a:p>
        </p:txBody>
      </p:sp>
      <p:sp>
        <p:nvSpPr>
          <p:cNvPr id="22" name="Card6Bg"/>
          <p:cNvSpPr/>
          <p:nvPr/>
        </p:nvSpPr>
        <p:spPr>
          <a:xfrm>
            <a:off x="4663920" y="2650680"/>
            <a:ext cx="3932280" cy="54864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3" name="Card6Stat"/>
          <p:cNvSpPr/>
          <p:nvPr/>
        </p:nvSpPr>
        <p:spPr>
          <a:xfrm>
            <a:off x="4755360" y="266112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C4A3"/>
                </a:solidFill>
                <a:latin typeface="Georgia" pitchFamily="34" charset="0"/>
              </a:rPr>
              <a:t>72%</a:t>
            </a:r>
            <a:r>
              <a:rPr lang="en-US" sz="850" dirty="0">
                <a:solidFill>
                  <a:srgbClr val="CADCFC"/>
                </a:solidFill>
              </a:rPr>
              <a:t xml:space="preserve">  of Top-100 Outliers = For-Profit</a:t>
            </a:r>
            <a:endParaRPr lang="en-US" sz="850" dirty="0"/>
          </a:p>
        </p:txBody>
      </p:sp>
      <p:sp>
        <p:nvSpPr>
          <p:cNvPr id="24" name="Card6Sub"/>
          <p:cNvSpPr/>
          <p:nvPr/>
        </p:nvSpPr>
        <p:spPr>
          <a:xfrm>
            <a:off x="4755360" y="2889720"/>
            <a:ext cx="3840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5C0"/>
                </a:solidFill>
              </a:rPr>
              <a:t>19.6% of all hospitals — 3.7× over-represented</a:t>
            </a:r>
            <a:endParaRPr lang="en-US" sz="800" dirty="0"/>
          </a:p>
        </p:txBody>
      </p:sp>
      <p:sp>
        <p:nvSpPr>
          <p:cNvPr id="28" name="ConclusionBox"/>
          <p:cNvSpPr/>
          <p:nvPr/>
        </p:nvSpPr>
        <p:spPr>
          <a:xfrm>
            <a:off x="274320" y="3290760"/>
            <a:ext cx="8595360" cy="36576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29" name="ConclusionTxt"/>
          <p:cNvSpPr/>
          <p:nvPr/>
        </p:nvSpPr>
        <p:spPr>
          <a:xfrm>
            <a:off x="457200" y="329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 xml:space="preserve">Bottom line: </a:t>
            </a:r>
            <a:r>
              <a:rPr lang="en-US" sz="950" dirty="0">
                <a:solidFill>
                  <a:srgbClr val="FFFFFF"/>
                </a:solidFill>
              </a:rPr>
              <a:t>The US Medicare billing gap is real, large, and structurally driven — For-Profit hospitals charge 50% more than Non-Profits at every complexity level, pointing to chargemaster strategy rather than patient acuity as the root cause.</a:t>
            </a:r>
          </a:p>
        </p:txBody>
      </p:sp>
      <p:sp>
        <p:nvSpPr>
          <p:cNvPr id="25" name="Text 17"/>
          <p:cNvSpPr/>
          <p:nvPr/>
        </p:nvSpPr>
        <p:spPr>
          <a:xfrm>
            <a:off x="457200" y="371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All figures computed from actual CMS data files. Notebook (CMS_Medicare_Analysis_REAL.ipynb) reproduces every number.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Data: CMS IPPS 2017-2018 • DRG Table V • Hospital General Information • Analysis: Python/pandas/scipy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C4A3"/>
                </a:solidFill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s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Hd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itleTxt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</a:rPr>
              <a:t>Dataset Overview</a:t>
            </a:r>
          </a:p>
        </p:txBody>
      </p:sp>
      <p:sp>
        <p:nvSpPr>
          <p:cNvPr id="5" name="Strip"/>
          <p:cNvSpPr/>
          <p:nvPr/>
        </p:nvSpPr>
        <p:spPr>
          <a:xfrm>
            <a:off x="0" y="777240"/>
            <a:ext cx="9144000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StripTxt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CMS IPPS 2017-2018  |  Three linked tables  |  Scale of the data at a glance</a:t>
            </a:r>
          </a:p>
        </p:txBody>
      </p:sp>
      <p:sp>
        <p:nvSpPr>
          <p:cNvPr id="10" name="C1"/>
          <p:cNvSpPr/>
          <p:nvPr/>
        </p:nvSpPr>
        <p:spPr>
          <a:xfrm>
            <a:off x="274320" y="1124712"/>
            <a:ext cx="1920240" cy="54864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1" name="C1N"/>
          <p:cNvSpPr/>
          <p:nvPr/>
        </p:nvSpPr>
        <p:spPr>
          <a:xfrm>
            <a:off x="274320" y="1140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3,058</a:t>
            </a:r>
          </a:p>
        </p:txBody>
      </p:sp>
      <p:sp>
        <p:nvSpPr>
          <p:cNvPr id="12" name="C1L"/>
          <p:cNvSpPr/>
          <p:nvPr/>
        </p:nvSpPr>
        <p:spPr>
          <a:xfrm>
            <a:off x="274320" y="1415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Unique Hospitals</a:t>
            </a:r>
          </a:p>
        </p:txBody>
      </p:sp>
      <p:sp>
        <p:nvSpPr>
          <p:cNvPr id="13" name="C2"/>
          <p:cNvSpPr/>
          <p:nvPr/>
        </p:nvSpPr>
        <p:spPr>
          <a:xfrm>
            <a:off x="2450592" y="1124712"/>
            <a:ext cx="1920240" cy="5486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4" name="C2N"/>
          <p:cNvSpPr/>
          <p:nvPr/>
        </p:nvSpPr>
        <p:spPr>
          <a:xfrm>
            <a:off x="2450592" y="1140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14.6M</a:t>
            </a:r>
          </a:p>
        </p:txBody>
      </p:sp>
      <p:sp>
        <p:nvSpPr>
          <p:cNvPr id="15" name="C2L"/>
          <p:cNvSpPr/>
          <p:nvPr/>
        </p:nvSpPr>
        <p:spPr>
          <a:xfrm>
            <a:off x="2450592" y="1415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Total Discharges</a:t>
            </a:r>
          </a:p>
        </p:txBody>
      </p:sp>
      <p:sp>
        <p:nvSpPr>
          <p:cNvPr id="16" name="C3"/>
          <p:cNvSpPr/>
          <p:nvPr/>
        </p:nvSpPr>
        <p:spPr>
          <a:xfrm>
            <a:off x="4626864" y="1124712"/>
            <a:ext cx="1920240" cy="54864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7" name="C3N"/>
          <p:cNvSpPr/>
          <p:nvPr/>
        </p:nvSpPr>
        <p:spPr>
          <a:xfrm>
            <a:off x="4626864" y="1140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587</a:t>
            </a:r>
          </a:p>
        </p:txBody>
      </p:sp>
      <p:sp>
        <p:nvSpPr>
          <p:cNvPr id="18" name="C3L"/>
          <p:cNvSpPr/>
          <p:nvPr/>
        </p:nvSpPr>
        <p:spPr>
          <a:xfrm>
            <a:off x="4626864" y="1415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Unique DRG Codes</a:t>
            </a:r>
          </a:p>
        </p:txBody>
      </p:sp>
      <p:sp>
        <p:nvSpPr>
          <p:cNvPr id="19" name="C4"/>
          <p:cNvSpPr/>
          <p:nvPr/>
        </p:nvSpPr>
        <p:spPr>
          <a:xfrm>
            <a:off x="6803136" y="1124712"/>
            <a:ext cx="192024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C4N"/>
          <p:cNvSpPr/>
          <p:nvPr/>
        </p:nvSpPr>
        <p:spPr>
          <a:xfrm>
            <a:off x="6803136" y="1140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</a:rPr>
              <a:t>50+DC</a:t>
            </a:r>
          </a:p>
        </p:txBody>
      </p:sp>
      <p:sp>
        <p:nvSpPr>
          <p:cNvPr id="21" name="C4L"/>
          <p:cNvSpPr/>
          <p:nvPr/>
        </p:nvSpPr>
        <p:spPr>
          <a:xfrm>
            <a:off x="6803136" y="141503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States / Territories</a:t>
            </a:r>
          </a:p>
        </p:txBody>
      </p:sp>
      <p:sp>
        <p:nvSpPr>
          <p:cNvPr id="30" name="ChartHdr"/>
          <p:cNvSpPr/>
          <p:nvPr/>
        </p:nvSpPr>
        <p:spPr>
          <a:xfrm>
            <a:off x="274320" y="18446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5"/>
                </a:solidFill>
              </a:rPr>
              <a:t>TABLE SIZES  -  row count per dataset (to scale)</a:t>
            </a:r>
          </a:p>
        </p:txBody>
      </p:sp>
      <p:sp>
        <p:nvSpPr>
          <p:cNvPr id="31" name="T1Lbl"/>
          <p:cNvSpPr/>
          <p:nvPr/>
        </p:nvSpPr>
        <p:spPr>
          <a:xfrm>
            <a:off x="274320" y="2120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B55"/>
                </a:solidFill>
              </a:rPr>
              <a:t>T1 Inpatient</a:t>
            </a:r>
          </a:p>
        </p:txBody>
      </p:sp>
      <p:sp>
        <p:nvSpPr>
          <p:cNvPr id="32" name="T1Track"/>
          <p:cNvSpPr/>
          <p:nvPr/>
        </p:nvSpPr>
        <p:spPr>
          <a:xfrm>
            <a:off x="1737360" y="2148840"/>
            <a:ext cx="7040880" cy="182880"/>
          </a:xfrm>
          <a:prstGeom prst="rect">
            <a:avLst/>
          </a:prstGeom>
          <a:solidFill>
            <a:srgbClr val="D1E3EE"/>
          </a:solidFill>
          <a:ln/>
        </p:spPr>
      </p:sp>
      <p:sp>
        <p:nvSpPr>
          <p:cNvPr id="33" name="T1Bar"/>
          <p:cNvSpPr/>
          <p:nvPr/>
        </p:nvSpPr>
        <p:spPr>
          <a:xfrm>
            <a:off x="1737360" y="2148840"/>
            <a:ext cx="7040880" cy="18288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34" name="T1Cnt"/>
          <p:cNvSpPr/>
          <p:nvPr/>
        </p:nvSpPr>
        <p:spPr>
          <a:xfrm>
            <a:off x="6900000" y="2148840"/>
            <a:ext cx="187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</a:rPr>
              <a:t>388,154 rows (2 yrs)</a:t>
            </a:r>
          </a:p>
        </p:txBody>
      </p:sp>
      <p:sp>
        <p:nvSpPr>
          <p:cNvPr id="35" name="T3Lbl"/>
          <p:cNvSpPr/>
          <p:nvPr/>
        </p:nvSpPr>
        <p:spPr>
          <a:xfrm>
            <a:off x="274320" y="2468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B55"/>
                </a:solidFill>
              </a:rPr>
              <a:t>T3 Hospitals</a:t>
            </a:r>
          </a:p>
        </p:txBody>
      </p:sp>
      <p:sp>
        <p:nvSpPr>
          <p:cNvPr id="36" name="T3Track"/>
          <p:cNvSpPr/>
          <p:nvPr/>
        </p:nvSpPr>
        <p:spPr>
          <a:xfrm>
            <a:off x="1737360" y="2497080"/>
            <a:ext cx="7040880" cy="182880"/>
          </a:xfrm>
          <a:prstGeom prst="rect">
            <a:avLst/>
          </a:prstGeom>
          <a:solidFill>
            <a:srgbClr val="D1E3EE"/>
          </a:solidFill>
          <a:ln/>
        </p:spPr>
      </p:sp>
      <p:sp>
        <p:nvSpPr>
          <p:cNvPr id="37" name="T3Bar"/>
          <p:cNvSpPr/>
          <p:nvPr/>
        </p:nvSpPr>
        <p:spPr>
          <a:xfrm>
            <a:off x="1737360" y="2497080"/>
            <a:ext cx="9837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3Cnt"/>
          <p:cNvSpPr/>
          <p:nvPr/>
        </p:nvSpPr>
        <p:spPr>
          <a:xfrm>
            <a:off x="1845730" y="2497080"/>
            <a:ext cx="160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2B55"/>
                </a:solidFill>
              </a:rPr>
              <a:t>5,426 rows</a:t>
            </a:r>
          </a:p>
        </p:txBody>
      </p:sp>
      <p:sp>
        <p:nvSpPr>
          <p:cNvPr id="39" name="T2Lbl"/>
          <p:cNvSpPr/>
          <p:nvPr/>
        </p:nvSpPr>
        <p:spPr>
          <a:xfrm>
            <a:off x="274320" y="281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D2B55"/>
                </a:solidFill>
              </a:rPr>
              <a:t>T2 DRG Ref</a:t>
            </a:r>
          </a:p>
        </p:txBody>
      </p:sp>
      <p:sp>
        <p:nvSpPr>
          <p:cNvPr id="40" name="T2Track"/>
          <p:cNvSpPr/>
          <p:nvPr/>
        </p:nvSpPr>
        <p:spPr>
          <a:xfrm>
            <a:off x="1737360" y="2845320"/>
            <a:ext cx="7040880" cy="182880"/>
          </a:xfrm>
          <a:prstGeom prst="rect">
            <a:avLst/>
          </a:prstGeom>
          <a:solidFill>
            <a:srgbClr val="D1E3EE"/>
          </a:solidFill>
          <a:ln/>
        </p:spPr>
      </p:sp>
      <p:sp>
        <p:nvSpPr>
          <p:cNvPr id="41" name="T2Bar"/>
          <p:cNvSpPr/>
          <p:nvPr/>
        </p:nvSpPr>
        <p:spPr>
          <a:xfrm>
            <a:off x="1737360" y="2845320"/>
            <a:ext cx="9720" cy="18288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2" name="T2Cnt"/>
          <p:cNvSpPr/>
          <p:nvPr/>
        </p:nvSpPr>
        <p:spPr>
          <a:xfrm>
            <a:off x="1757080" y="2845320"/>
            <a:ext cx="150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2B55"/>
                </a:solidFill>
              </a:rPr>
              <a:t>536 rows (lookup/reference)</a:t>
            </a:r>
          </a:p>
        </p:txBody>
      </p:sp>
      <p:sp>
        <p:nvSpPr>
          <p:cNvPr id="50" name="Insight"/>
          <p:cNvSpPr/>
          <p:nvPr/>
        </p:nvSpPr>
        <p:spPr>
          <a:xfrm>
            <a:off x="274320" y="3200400"/>
            <a:ext cx="8595360" cy="5486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51" name="InsightTxt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C4A3"/>
                </a:solidFill>
              </a:rPr>
              <a:t xml:space="preserve">Join note: </a:t>
            </a:r>
            <a:r>
              <a:rPr lang="en-US" sz="900" dirty="0">
                <a:solidFill>
                  <a:srgbClr val="CADCFC"/>
                </a:solidFill>
              </a:rPr>
              <a:t>T1 is the fact table (388k billing records). It joins to T3 via 6-digit CCN (96.9% match) for hospital attributes, and to T2 via DRG code (57.5% direct; remainder mapped via MS-DRG range) for complexity weights.</a:t>
            </a:r>
          </a:p>
        </p:txBody>
      </p:sp>
      <p:sp>
        <p:nvSpPr>
          <p:cNvPr id="60" name="FtrBg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61" name="FtrTxt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2017-2018  |  Real Data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rge Ratio His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Hd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" name="TitleTxt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</a:rPr>
              <a:t>Charge Ratio Distribution — All 3,058 Hospitals</a:t>
            </a:r>
          </a:p>
        </p:txBody>
      </p:sp>
      <p:sp>
        <p:nvSpPr>
          <p:cNvPr id="5" name="Strip"/>
          <p:cNvSpPr/>
          <p:nvPr/>
        </p:nvSpPr>
        <p:spPr>
          <a:xfrm>
            <a:off x="0" y="777240"/>
            <a:ext cx="9144000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" name="StripTxt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FFFFFF"/>
                </a:solidFill>
              </a:rPr>
              <a:t>TASK 02A  |  Charge Ratio = avg_submitted_charge / avg_medicare_payment  |  Right-skewed distribution</a:t>
            </a:r>
          </a:p>
        </p:txBody>
      </p:sp>
      <p:sp>
        <p:nvSpPr>
          <p:cNvPr id="7" name="ChartBg"/>
          <p:cNvSpPr/>
          <p:nvPr/>
        </p:nvSpPr>
        <p:spPr>
          <a:xfrm>
            <a:off x="365760" y="1105920"/>
            <a:ext cx="59436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1E3EE"/>
            </a:solidFill>
          </a:ln>
        </p:spPr>
      </p:sp>
      <p:sp>
        <p:nvSpPr>
          <p:cNvPr id="8" name="Grid1"/>
          <p:cNvSpPr/>
          <p:nvPr/>
        </p:nvSpPr>
        <p:spPr>
          <a:xfrm>
            <a:off x="365760" y="1705920"/>
            <a:ext cx="5943600" cy="9144"/>
          </a:xfrm>
          <a:prstGeom prst="rect">
            <a:avLst/>
          </a:prstGeom>
          <a:solidFill>
            <a:srgbClr val="D1E3EE"/>
          </a:solidFill>
          <a:ln/>
        </p:spPr>
      </p:sp>
      <p:sp>
        <p:nvSpPr>
          <p:cNvPr id="9" name="Grid2"/>
          <p:cNvSpPr/>
          <p:nvPr/>
        </p:nvSpPr>
        <p:spPr>
          <a:xfrm>
            <a:off x="365760" y="2305920"/>
            <a:ext cx="5943600" cy="9144"/>
          </a:xfrm>
          <a:prstGeom prst="rect">
            <a:avLst/>
          </a:prstGeom>
          <a:solidFill>
            <a:srgbClr val="D1E3EE"/>
          </a:solidFill>
          <a:ln/>
        </p:spPr>
      </p:sp>
      <p:sp>
        <p:nvSpPr>
          <p:cNvPr id="10" name="Grid3"/>
          <p:cNvSpPr/>
          <p:nvPr/>
        </p:nvSpPr>
        <p:spPr>
          <a:xfrm>
            <a:off x="365760" y="2905920"/>
            <a:ext cx="5943600" cy="9144"/>
          </a:xfrm>
          <a:prstGeom prst="rect">
            <a:avLst/>
          </a:prstGeom>
          <a:solidFill>
            <a:srgbClr val="D1E3EE"/>
          </a:solidFill>
          <a:ln/>
        </p:spPr>
      </p:sp>
      <p:sp>
        <p:nvSpPr>
          <p:cNvPr id="11" name="Grid4"/>
          <p:cNvSpPr/>
          <p:nvPr/>
        </p:nvSpPr>
        <p:spPr>
          <a:xfrm>
            <a:off x="365760" y="3505920"/>
            <a:ext cx="5943600" cy="9144"/>
          </a:xfrm>
          <a:prstGeom prst="rect">
            <a:avLst/>
          </a:prstGeom>
          <a:solidFill>
            <a:srgbClr val="D1E3EE"/>
          </a:solidFill>
          <a:ln/>
        </p:spPr>
      </p:sp>
      <p:sp>
        <p:nvSpPr>
          <p:cNvPr id="20" name="B01"/>
          <p:cNvSpPr/>
          <p:nvPr/>
        </p:nvSpPr>
        <p:spPr>
          <a:xfrm>
            <a:off x="381000" y="3675570"/>
            <a:ext cx="430000" cy="17355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21" name="B12"/>
          <p:cNvSpPr/>
          <p:nvPr/>
        </p:nvSpPr>
        <p:spPr>
          <a:xfrm>
            <a:off x="838200" y="3207015"/>
            <a:ext cx="430000" cy="642105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22" name="B23"/>
          <p:cNvSpPr/>
          <p:nvPr/>
        </p:nvSpPr>
        <p:spPr>
          <a:xfrm>
            <a:off x="1295400" y="2044200"/>
            <a:ext cx="430000" cy="180492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23" name="B34"/>
          <p:cNvSpPr/>
          <p:nvPr/>
        </p:nvSpPr>
        <p:spPr>
          <a:xfrm>
            <a:off x="1752600" y="1105920"/>
            <a:ext cx="430000" cy="274320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24" name="B45"/>
          <p:cNvSpPr/>
          <p:nvPr/>
        </p:nvSpPr>
        <p:spPr>
          <a:xfrm>
            <a:off x="2209800" y="1627680"/>
            <a:ext cx="430000" cy="222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B56"/>
          <p:cNvSpPr/>
          <p:nvPr/>
        </p:nvSpPr>
        <p:spPr>
          <a:xfrm>
            <a:off x="2667000" y="2668980"/>
            <a:ext cx="430000" cy="11801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B67"/>
          <p:cNvSpPr/>
          <p:nvPr/>
        </p:nvSpPr>
        <p:spPr>
          <a:xfrm>
            <a:off x="3124200" y="3172035"/>
            <a:ext cx="430000" cy="677085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B78"/>
          <p:cNvSpPr/>
          <p:nvPr/>
        </p:nvSpPr>
        <p:spPr>
          <a:xfrm>
            <a:off x="3581400" y="3432600"/>
            <a:ext cx="430000" cy="416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B89"/>
          <p:cNvSpPr/>
          <p:nvPr/>
        </p:nvSpPr>
        <p:spPr>
          <a:xfrm>
            <a:off x="4038600" y="3588795"/>
            <a:ext cx="430000" cy="260325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B910"/>
          <p:cNvSpPr/>
          <p:nvPr/>
        </p:nvSpPr>
        <p:spPr>
          <a:xfrm>
            <a:off x="4495800" y="3675570"/>
            <a:ext cx="430000" cy="17355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0" name="B1012"/>
          <p:cNvSpPr/>
          <p:nvPr/>
        </p:nvSpPr>
        <p:spPr>
          <a:xfrm>
            <a:off x="4953000" y="3640860"/>
            <a:ext cx="430000" cy="20826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1" name="B1215"/>
          <p:cNvSpPr/>
          <p:nvPr/>
        </p:nvSpPr>
        <p:spPr>
          <a:xfrm>
            <a:off x="5410200" y="3710280"/>
            <a:ext cx="430000" cy="13884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2" name="B1519"/>
          <p:cNvSpPr/>
          <p:nvPr/>
        </p:nvSpPr>
        <p:spPr>
          <a:xfrm>
            <a:off x="5867400" y="3803997"/>
            <a:ext cx="430000" cy="45123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3" name="XAxis"/>
          <p:cNvSpPr/>
          <p:nvPr/>
        </p:nvSpPr>
        <p:spPr>
          <a:xfrm>
            <a:off x="365760" y="3849120"/>
            <a:ext cx="5943600" cy="9144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4" name="XLbls"/>
          <p:cNvSpPr/>
          <p:nvPr/>
        </p:nvSpPr>
        <p:spPr>
          <a:xfrm>
            <a:off x="365760" y="3858264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6B7A8D"/>
                </a:solidFill>
              </a:rPr>
              <a:t xml:space="preserve">0x       1x       2x       3x       4x       5x       6x       7x       8x       9x      10x      12x      15x     19x</a:t>
            </a:r>
          </a:p>
        </p:txBody>
      </p:sp>
      <p:sp>
        <p:nvSpPr>
          <p:cNvPr id="35" name="XTitle"/>
          <p:cNvSpPr/>
          <p:nvPr/>
        </p:nvSpPr>
        <p:spPr>
          <a:xfrm>
            <a:off x="365760" y="4086864"/>
            <a:ext cx="59436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B55"/>
                </a:solidFill>
              </a:rPr>
              <a:t>Charge Ratio  (Avg Submitted Charge / Avg Medicare Payment)</a:t>
            </a:r>
          </a:p>
        </p:txBody>
      </p:sp>
      <p:sp>
        <p:nvSpPr>
          <p:cNvPr id="36" name="MedianLine"/>
          <p:cNvSpPr/>
          <p:nvPr/>
        </p:nvSpPr>
        <p:spPr>
          <a:xfrm>
            <a:off x="1749320" y="1105920"/>
            <a:ext cx="9144" cy="2743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MedianLbl"/>
          <p:cNvSpPr/>
          <p:nvPr/>
        </p:nvSpPr>
        <p:spPr>
          <a:xfrm>
            <a:off x="1640160" y="1115064"/>
            <a:ext cx="7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Median 4.42x</a:t>
            </a:r>
          </a:p>
        </p:txBody>
      </p:sp>
      <p:sp>
        <p:nvSpPr>
          <p:cNvPr id="38" name="ThreshLine"/>
          <p:cNvSpPr/>
          <p:nvPr/>
        </p:nvSpPr>
        <p:spPr>
          <a:xfrm>
            <a:off x="2243318" y="1105920"/>
            <a:ext cx="9144" cy="2743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hreshLbl"/>
          <p:cNvSpPr/>
          <p:nvPr/>
        </p:nvSpPr>
        <p:spPr>
          <a:xfrm>
            <a:off x="2155000" y="1115064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C2626"/>
                </a:solidFill>
              </a:rPr>
              <a:t>6x threshold</a:t>
            </a:r>
          </a:p>
        </p:txBody>
      </p:sp>
      <p:sp>
        <p:nvSpPr>
          <p:cNvPr id="50" name="LegTitle"/>
          <p:cNvSpPr/>
          <p:nvPr/>
        </p:nvSpPr>
        <p:spPr>
          <a:xfrm>
            <a:off x="6492720" y="11247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2B55"/>
                </a:solidFill>
              </a:rPr>
              <a:t>LEGEND</a:t>
            </a:r>
          </a:p>
        </p:txBody>
      </p:sp>
      <p:sp>
        <p:nvSpPr>
          <p:cNvPr id="51" name="Leg1Swatch"/>
          <p:cNvSpPr/>
          <p:nvPr/>
        </p:nvSpPr>
        <p:spPr>
          <a:xfrm>
            <a:off x="6492720" y="1415352"/>
            <a:ext cx="182880" cy="18288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52" name="Leg1Txt"/>
          <p:cNvSpPr/>
          <p:nvPr/>
        </p:nvSpPr>
        <p:spPr>
          <a:xfrm>
            <a:off x="6719400" y="14153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2B55"/>
                </a:solidFill>
              </a:rPr>
              <a:t>&lt;4x Normal</a:t>
            </a:r>
          </a:p>
        </p:txBody>
      </p:sp>
      <p:sp>
        <p:nvSpPr>
          <p:cNvPr id="53" name="Leg2Swatch"/>
          <p:cNvSpPr/>
          <p:nvPr/>
        </p:nvSpPr>
        <p:spPr>
          <a:xfrm>
            <a:off x="6492720" y="1643952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Leg2Txt"/>
          <p:cNvSpPr/>
          <p:nvPr/>
        </p:nvSpPr>
        <p:spPr>
          <a:xfrm>
            <a:off x="6719400" y="1643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2B55"/>
                </a:solidFill>
              </a:rPr>
              <a:t>4-6x Moderate</a:t>
            </a:r>
          </a:p>
        </p:txBody>
      </p:sp>
      <p:sp>
        <p:nvSpPr>
          <p:cNvPr id="55" name="Leg3Swatch"/>
          <p:cNvSpPr/>
          <p:nvPr/>
        </p:nvSpPr>
        <p:spPr>
          <a:xfrm>
            <a:off x="6492720" y="1872552"/>
            <a:ext cx="18288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6" name="Leg3Txt"/>
          <p:cNvSpPr/>
          <p:nvPr/>
        </p:nvSpPr>
        <p:spPr>
          <a:xfrm>
            <a:off x="6719400" y="1872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2B55"/>
                </a:solidFill>
              </a:rPr>
              <a:t>&gt;6x Outlier</a:t>
            </a:r>
          </a:p>
        </p:txBody>
      </p:sp>
      <p:sp>
        <p:nvSpPr>
          <p:cNvPr id="60" name="S1Bg"/>
          <p:cNvSpPr/>
          <p:nvPr/>
        </p:nvSpPr>
        <p:spPr>
          <a:xfrm>
            <a:off x="6492720" y="2194560"/>
            <a:ext cx="2377440" cy="45720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61" name="S1Txt"/>
          <p:cNvSpPr/>
          <p:nvPr/>
        </p:nvSpPr>
        <p:spPr>
          <a:xfrm>
            <a:off x="6583160" y="2194560"/>
            <a:ext cx="228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4.423x</a:t>
            </a:r>
          </a:p>
        </p:txBody>
      </p:sp>
      <p:sp>
        <p:nvSpPr>
          <p:cNvPr id="62" name="S1Sub"/>
          <p:cNvSpPr/>
          <p:nvPr/>
        </p:nvSpPr>
        <p:spPr>
          <a:xfrm>
            <a:off x="6583160" y="2423160"/>
            <a:ext cx="228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Median Charge Ratio</a:t>
            </a:r>
          </a:p>
        </p:txBody>
      </p:sp>
      <p:sp>
        <p:nvSpPr>
          <p:cNvPr id="63" name="S2Bg"/>
          <p:cNvSpPr/>
          <p:nvPr/>
        </p:nvSpPr>
        <p:spPr>
          <a:xfrm>
            <a:off x="6492720" y="2697960"/>
            <a:ext cx="23774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S2Txt"/>
          <p:cNvSpPr/>
          <p:nvPr/>
        </p:nvSpPr>
        <p:spPr>
          <a:xfrm>
            <a:off x="6583160" y="2697960"/>
            <a:ext cx="228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25.6%</a:t>
            </a:r>
          </a:p>
        </p:txBody>
      </p:sp>
      <p:sp>
        <p:nvSpPr>
          <p:cNvPr id="65" name="S2Sub"/>
          <p:cNvSpPr/>
          <p:nvPr/>
        </p:nvSpPr>
        <p:spPr>
          <a:xfrm>
            <a:off x="6583160" y="2926560"/>
            <a:ext cx="228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Bill at &gt;=6x Medicare</a:t>
            </a:r>
          </a:p>
        </p:txBody>
      </p:sp>
      <p:sp>
        <p:nvSpPr>
          <p:cNvPr id="66" name="S3Bg"/>
          <p:cNvSpPr/>
          <p:nvPr/>
        </p:nvSpPr>
        <p:spPr>
          <a:xfrm>
            <a:off x="6492720" y="3201360"/>
            <a:ext cx="237744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7" name="S3Txt"/>
          <p:cNvSpPr/>
          <p:nvPr/>
        </p:nvSpPr>
        <p:spPr>
          <a:xfrm>
            <a:off x="6583160" y="3201360"/>
            <a:ext cx="228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</a:rPr>
              <a:t>18.94x</a:t>
            </a:r>
          </a:p>
        </p:txBody>
      </p:sp>
      <p:sp>
        <p:nvSpPr>
          <p:cNvPr id="68" name="S3Sub"/>
          <p:cNvSpPr/>
          <p:nvPr/>
        </p:nvSpPr>
        <p:spPr>
          <a:xfrm>
            <a:off x="6583160" y="3429960"/>
            <a:ext cx="228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Maximum (extreme outlier)</a:t>
            </a:r>
          </a:p>
        </p:txBody>
      </p:sp>
      <p:sp>
        <p:nvSpPr>
          <p:cNvPr id="70" name="FindBg"/>
          <p:cNvSpPr/>
          <p:nvPr/>
        </p:nvSpPr>
        <p:spPr>
          <a:xfrm>
            <a:off x="274320" y="4297680"/>
            <a:ext cx="8595360" cy="4572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71" name="FindTxt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C4A3"/>
                </a:solidFill>
              </a:rPr>
              <a:t xml:space="preserve">Distribution shape: </a:t>
            </a:r>
            <a:r>
              <a:rPr lang="en-US" sz="900" dirty="0">
                <a:solidFill>
                  <a:srgbClr val="CADCFC"/>
                </a:solidFill>
              </a:rPr>
              <a:t>Right-skewed (skew=1.32) — most hospitals cluster near the 3-5x range, but a long right tail of extreme billers pulls the mean (4.945x) above the median (4.423x). The tail is disproportionately For-Profit hospitals.</a:t>
            </a:r>
          </a:p>
        </p:txBody>
      </p:sp>
      <p:sp>
        <p:nvSpPr>
          <p:cNvPr id="80" name="FtrBg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1" name="FtrTxt"/>
          <p:cNvSpPr/>
          <p:nvPr/>
        </p:nvSpPr>
        <p:spPr>
          <a:xfrm>
            <a:off x="27432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CMS Medicare Payment Integrity  |  2017-2018  |  Real Data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1046</Words>
  <Application>Microsoft Office PowerPoint</Application>
  <PresentationFormat>On-screen Show (16:9)</PresentationFormat>
  <Paragraphs>142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 Medicare Payment Integrity Analysis</dc:title>
  <dc:subject>PptxGenJS Presentation</dc:subject>
  <dc:creator>Candidate Submission</dc:creator>
  <cp:lastModifiedBy>Admin</cp:lastModifiedBy>
  <cp:revision>4</cp:revision>
  <dcterms:created xsi:type="dcterms:W3CDTF">2026-03-08T10:20:10Z</dcterms:created>
  <dcterms:modified xsi:type="dcterms:W3CDTF">2026-03-08T11:14:13Z</dcterms:modified>
</cp:coreProperties>
</file>